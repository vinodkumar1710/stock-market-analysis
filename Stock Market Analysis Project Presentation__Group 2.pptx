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3"/>
  </p:handoutMasterIdLst>
  <p:sldIdLst>
    <p:sldId id="256" r:id="rId2"/>
    <p:sldId id="263" r:id="rId3"/>
    <p:sldId id="272" r:id="rId4"/>
    <p:sldId id="277" r:id="rId5"/>
    <p:sldId id="265" r:id="rId6"/>
    <p:sldId id="274" r:id="rId7"/>
    <p:sldId id="260" r:id="rId8"/>
    <p:sldId id="276" r:id="rId9"/>
    <p:sldId id="273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8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B3FB91-DCAD-4C42-98E0-E212D1FC9DF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F1F4CE-235A-40DF-BA0D-1D19B14D5AF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Excel</a:t>
          </a:r>
        </a:p>
      </dgm:t>
    </dgm:pt>
    <dgm:pt modelId="{DFA09D85-3324-486F-A88C-165C20947F9F}" type="parTrans" cxnId="{7925E9F9-09BF-4608-B3D6-A95D139DCB77}">
      <dgm:prSet/>
      <dgm:spPr/>
      <dgm:t>
        <a:bodyPr/>
        <a:lstStyle/>
        <a:p>
          <a:endParaRPr lang="en-IN"/>
        </a:p>
      </dgm:t>
    </dgm:pt>
    <dgm:pt modelId="{80BDD8DD-28E6-4FB0-8EBD-15109C251924}" type="sibTrans" cxnId="{7925E9F9-09BF-4608-B3D6-A95D139DCB77}">
      <dgm:prSet/>
      <dgm:spPr/>
      <dgm:t>
        <a:bodyPr/>
        <a:lstStyle/>
        <a:p>
          <a:endParaRPr lang="en-IN"/>
        </a:p>
      </dgm:t>
    </dgm:pt>
    <dgm:pt modelId="{02CF93A9-1D26-4958-83EE-7BDD3E6B403A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Tableau</a:t>
          </a:r>
          <a:endParaRPr lang="en-IN" dirty="0"/>
        </a:p>
      </dgm:t>
    </dgm:pt>
    <dgm:pt modelId="{20F72C1E-3A9D-41AE-9535-637F4CF35F09}" type="parTrans" cxnId="{450AA5D6-8121-429D-B3C9-A3B62EC03895}">
      <dgm:prSet/>
      <dgm:spPr/>
      <dgm:t>
        <a:bodyPr/>
        <a:lstStyle/>
        <a:p>
          <a:endParaRPr lang="en-IN"/>
        </a:p>
      </dgm:t>
    </dgm:pt>
    <dgm:pt modelId="{059497A6-33A7-4729-9884-967C8CC7208A}" type="sibTrans" cxnId="{450AA5D6-8121-429D-B3C9-A3B62EC03895}">
      <dgm:prSet/>
      <dgm:spPr/>
      <dgm:t>
        <a:bodyPr/>
        <a:lstStyle/>
        <a:p>
          <a:endParaRPr lang="en-IN"/>
        </a:p>
      </dgm:t>
    </dgm:pt>
    <dgm:pt modelId="{14DEBC2B-7323-48CA-AD75-03413C10A38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Power Bi</a:t>
          </a:r>
        </a:p>
      </dgm:t>
    </dgm:pt>
    <dgm:pt modelId="{1D539954-5B25-49AF-A249-673FCFFD8ED7}" type="parTrans" cxnId="{A8BB51D0-98D4-40B8-AD71-B9BFCE8274FA}">
      <dgm:prSet/>
      <dgm:spPr/>
      <dgm:t>
        <a:bodyPr/>
        <a:lstStyle/>
        <a:p>
          <a:endParaRPr lang="en-IN"/>
        </a:p>
      </dgm:t>
    </dgm:pt>
    <dgm:pt modelId="{CD7ECC0C-3926-4CC3-9CF4-9E86CA6A5CBD}" type="sibTrans" cxnId="{A8BB51D0-98D4-40B8-AD71-B9BFCE8274FA}">
      <dgm:prSet/>
      <dgm:spPr/>
      <dgm:t>
        <a:bodyPr/>
        <a:lstStyle/>
        <a:p>
          <a:endParaRPr lang="en-IN"/>
        </a:p>
      </dgm:t>
    </dgm:pt>
    <dgm:pt modelId="{E012106F-FB7C-45F3-80AB-9068425EE196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SQL</a:t>
          </a:r>
        </a:p>
      </dgm:t>
    </dgm:pt>
    <dgm:pt modelId="{394179AF-497E-4A41-B3F7-03EA20753FED}" type="parTrans" cxnId="{BDCE8C40-DB37-4BD3-A938-7F116449FB31}">
      <dgm:prSet/>
      <dgm:spPr/>
      <dgm:t>
        <a:bodyPr/>
        <a:lstStyle/>
        <a:p>
          <a:endParaRPr lang="en-IN"/>
        </a:p>
      </dgm:t>
    </dgm:pt>
    <dgm:pt modelId="{5D172C7E-63D7-4444-B098-C7712262B2EA}" type="sibTrans" cxnId="{BDCE8C40-DB37-4BD3-A938-7F116449FB31}">
      <dgm:prSet/>
      <dgm:spPr/>
      <dgm:t>
        <a:bodyPr/>
        <a:lstStyle/>
        <a:p>
          <a:endParaRPr lang="en-IN"/>
        </a:p>
      </dgm:t>
    </dgm:pt>
    <dgm:pt modelId="{9C5F5701-589F-4809-866B-722523675820}" type="pres">
      <dgm:prSet presAssocID="{52B3FB91-DCAD-4C42-98E0-E212D1FC9DFE}" presName="cycle" presStyleCnt="0">
        <dgm:presLayoutVars>
          <dgm:dir/>
          <dgm:resizeHandles val="exact"/>
        </dgm:presLayoutVars>
      </dgm:prSet>
      <dgm:spPr/>
    </dgm:pt>
    <dgm:pt modelId="{512D7C21-1FA2-4613-A889-618EB5882E8C}" type="pres">
      <dgm:prSet presAssocID="{C3F1F4CE-235A-40DF-BA0D-1D19B14D5AFF}" presName="node" presStyleLbl="node1" presStyleIdx="0" presStyleCnt="4">
        <dgm:presLayoutVars>
          <dgm:bulletEnabled val="1"/>
        </dgm:presLayoutVars>
      </dgm:prSet>
      <dgm:spPr/>
    </dgm:pt>
    <dgm:pt modelId="{A99559C8-083C-43B5-BB4F-247D5AF6AC1B}" type="pres">
      <dgm:prSet presAssocID="{80BDD8DD-28E6-4FB0-8EBD-15109C251924}" presName="sibTrans" presStyleLbl="sibTrans2D1" presStyleIdx="0" presStyleCnt="4"/>
      <dgm:spPr/>
    </dgm:pt>
    <dgm:pt modelId="{CEFBD57E-99AA-4099-AD05-927A778F7BDB}" type="pres">
      <dgm:prSet presAssocID="{80BDD8DD-28E6-4FB0-8EBD-15109C251924}" presName="connectorText" presStyleLbl="sibTrans2D1" presStyleIdx="0" presStyleCnt="4"/>
      <dgm:spPr/>
    </dgm:pt>
    <dgm:pt modelId="{A5C29F13-B3C7-4335-9247-4668E654D36C}" type="pres">
      <dgm:prSet presAssocID="{02CF93A9-1D26-4958-83EE-7BDD3E6B403A}" presName="node" presStyleLbl="node1" presStyleIdx="1" presStyleCnt="4">
        <dgm:presLayoutVars>
          <dgm:bulletEnabled val="1"/>
        </dgm:presLayoutVars>
      </dgm:prSet>
      <dgm:spPr/>
    </dgm:pt>
    <dgm:pt modelId="{DF4ACD6F-A774-431E-BF38-76F9526FF582}" type="pres">
      <dgm:prSet presAssocID="{059497A6-33A7-4729-9884-967C8CC7208A}" presName="sibTrans" presStyleLbl="sibTrans2D1" presStyleIdx="1" presStyleCnt="4"/>
      <dgm:spPr/>
    </dgm:pt>
    <dgm:pt modelId="{16ED003F-6DAA-4372-BF9E-B070B64D2CF5}" type="pres">
      <dgm:prSet presAssocID="{059497A6-33A7-4729-9884-967C8CC7208A}" presName="connectorText" presStyleLbl="sibTrans2D1" presStyleIdx="1" presStyleCnt="4"/>
      <dgm:spPr/>
    </dgm:pt>
    <dgm:pt modelId="{0F8A6D53-3685-4C52-91E7-054EDEC52A72}" type="pres">
      <dgm:prSet presAssocID="{14DEBC2B-7323-48CA-AD75-03413C10A388}" presName="node" presStyleLbl="node1" presStyleIdx="2" presStyleCnt="4">
        <dgm:presLayoutVars>
          <dgm:bulletEnabled val="1"/>
        </dgm:presLayoutVars>
      </dgm:prSet>
      <dgm:spPr/>
    </dgm:pt>
    <dgm:pt modelId="{834C9142-5D46-4DED-BF34-544B9D720567}" type="pres">
      <dgm:prSet presAssocID="{CD7ECC0C-3926-4CC3-9CF4-9E86CA6A5CBD}" presName="sibTrans" presStyleLbl="sibTrans2D1" presStyleIdx="2" presStyleCnt="4"/>
      <dgm:spPr/>
    </dgm:pt>
    <dgm:pt modelId="{004138D9-CBA4-467A-BC32-3B6CE4DE3013}" type="pres">
      <dgm:prSet presAssocID="{CD7ECC0C-3926-4CC3-9CF4-9E86CA6A5CBD}" presName="connectorText" presStyleLbl="sibTrans2D1" presStyleIdx="2" presStyleCnt="4"/>
      <dgm:spPr/>
    </dgm:pt>
    <dgm:pt modelId="{CEE44849-3E2D-41F2-BF54-B6045AD83D50}" type="pres">
      <dgm:prSet presAssocID="{E012106F-FB7C-45F3-80AB-9068425EE196}" presName="node" presStyleLbl="node1" presStyleIdx="3" presStyleCnt="4">
        <dgm:presLayoutVars>
          <dgm:bulletEnabled val="1"/>
        </dgm:presLayoutVars>
      </dgm:prSet>
      <dgm:spPr/>
    </dgm:pt>
    <dgm:pt modelId="{43C618FE-7B68-4BAE-8892-DFE892B54890}" type="pres">
      <dgm:prSet presAssocID="{5D172C7E-63D7-4444-B098-C7712262B2EA}" presName="sibTrans" presStyleLbl="sibTrans2D1" presStyleIdx="3" presStyleCnt="4"/>
      <dgm:spPr/>
    </dgm:pt>
    <dgm:pt modelId="{6C267B1C-07A7-4801-A800-E2CA950D9FC6}" type="pres">
      <dgm:prSet presAssocID="{5D172C7E-63D7-4444-B098-C7712262B2EA}" presName="connectorText" presStyleLbl="sibTrans2D1" presStyleIdx="3" presStyleCnt="4"/>
      <dgm:spPr/>
    </dgm:pt>
  </dgm:ptLst>
  <dgm:cxnLst>
    <dgm:cxn modelId="{DC0A7E0E-3863-4A6F-AA4A-428A7F55B979}" type="presOf" srcId="{059497A6-33A7-4729-9884-967C8CC7208A}" destId="{DF4ACD6F-A774-431E-BF38-76F9526FF582}" srcOrd="0" destOrd="0" presId="urn:microsoft.com/office/officeart/2005/8/layout/cycle2"/>
    <dgm:cxn modelId="{552DB224-6278-42A1-8A42-2661B4022C10}" type="presOf" srcId="{5D172C7E-63D7-4444-B098-C7712262B2EA}" destId="{43C618FE-7B68-4BAE-8892-DFE892B54890}" srcOrd="0" destOrd="0" presId="urn:microsoft.com/office/officeart/2005/8/layout/cycle2"/>
    <dgm:cxn modelId="{97BF7133-0F73-45FD-B2C0-875DE6CFD7D1}" type="presOf" srcId="{52B3FB91-DCAD-4C42-98E0-E212D1FC9DFE}" destId="{9C5F5701-589F-4809-866B-722523675820}" srcOrd="0" destOrd="0" presId="urn:microsoft.com/office/officeart/2005/8/layout/cycle2"/>
    <dgm:cxn modelId="{BDCE8C40-DB37-4BD3-A938-7F116449FB31}" srcId="{52B3FB91-DCAD-4C42-98E0-E212D1FC9DFE}" destId="{E012106F-FB7C-45F3-80AB-9068425EE196}" srcOrd="3" destOrd="0" parTransId="{394179AF-497E-4A41-B3F7-03EA20753FED}" sibTransId="{5D172C7E-63D7-4444-B098-C7712262B2EA}"/>
    <dgm:cxn modelId="{31C9565F-00A8-464D-8BE0-F58B419280FD}" type="presOf" srcId="{CD7ECC0C-3926-4CC3-9CF4-9E86CA6A5CBD}" destId="{004138D9-CBA4-467A-BC32-3B6CE4DE3013}" srcOrd="1" destOrd="0" presId="urn:microsoft.com/office/officeart/2005/8/layout/cycle2"/>
    <dgm:cxn modelId="{ACCBE766-DF9D-4998-BF49-53D56DC244D6}" type="presOf" srcId="{059497A6-33A7-4729-9884-967C8CC7208A}" destId="{16ED003F-6DAA-4372-BF9E-B070B64D2CF5}" srcOrd="1" destOrd="0" presId="urn:microsoft.com/office/officeart/2005/8/layout/cycle2"/>
    <dgm:cxn modelId="{2435E449-6C28-4791-B077-94D66B95B1C7}" type="presOf" srcId="{80BDD8DD-28E6-4FB0-8EBD-15109C251924}" destId="{A99559C8-083C-43B5-BB4F-247D5AF6AC1B}" srcOrd="0" destOrd="0" presId="urn:microsoft.com/office/officeart/2005/8/layout/cycle2"/>
    <dgm:cxn modelId="{BA19B46A-A663-4E41-A1AA-B6700AB54E76}" type="presOf" srcId="{E012106F-FB7C-45F3-80AB-9068425EE196}" destId="{CEE44849-3E2D-41F2-BF54-B6045AD83D50}" srcOrd="0" destOrd="0" presId="urn:microsoft.com/office/officeart/2005/8/layout/cycle2"/>
    <dgm:cxn modelId="{F2F62B7C-E9A6-4277-A070-4AF5CCB91288}" type="presOf" srcId="{5D172C7E-63D7-4444-B098-C7712262B2EA}" destId="{6C267B1C-07A7-4801-A800-E2CA950D9FC6}" srcOrd="1" destOrd="0" presId="urn:microsoft.com/office/officeart/2005/8/layout/cycle2"/>
    <dgm:cxn modelId="{21E8B57E-C465-44D7-A050-462AD3E25344}" type="presOf" srcId="{80BDD8DD-28E6-4FB0-8EBD-15109C251924}" destId="{CEFBD57E-99AA-4099-AD05-927A778F7BDB}" srcOrd="1" destOrd="0" presId="urn:microsoft.com/office/officeart/2005/8/layout/cycle2"/>
    <dgm:cxn modelId="{79AEB1B9-3D7F-401B-9FB5-1034818EACD3}" type="presOf" srcId="{14DEBC2B-7323-48CA-AD75-03413C10A388}" destId="{0F8A6D53-3685-4C52-91E7-054EDEC52A72}" srcOrd="0" destOrd="0" presId="urn:microsoft.com/office/officeart/2005/8/layout/cycle2"/>
    <dgm:cxn modelId="{4AFA9CC6-C064-4188-839C-ECA8FB15C869}" type="presOf" srcId="{C3F1F4CE-235A-40DF-BA0D-1D19B14D5AFF}" destId="{512D7C21-1FA2-4613-A889-618EB5882E8C}" srcOrd="0" destOrd="0" presId="urn:microsoft.com/office/officeart/2005/8/layout/cycle2"/>
    <dgm:cxn modelId="{A8BB51D0-98D4-40B8-AD71-B9BFCE8274FA}" srcId="{52B3FB91-DCAD-4C42-98E0-E212D1FC9DFE}" destId="{14DEBC2B-7323-48CA-AD75-03413C10A388}" srcOrd="2" destOrd="0" parTransId="{1D539954-5B25-49AF-A249-673FCFFD8ED7}" sibTransId="{CD7ECC0C-3926-4CC3-9CF4-9E86CA6A5CBD}"/>
    <dgm:cxn modelId="{450AA5D6-8121-429D-B3C9-A3B62EC03895}" srcId="{52B3FB91-DCAD-4C42-98E0-E212D1FC9DFE}" destId="{02CF93A9-1D26-4958-83EE-7BDD3E6B403A}" srcOrd="1" destOrd="0" parTransId="{20F72C1E-3A9D-41AE-9535-637F4CF35F09}" sibTransId="{059497A6-33A7-4729-9884-967C8CC7208A}"/>
    <dgm:cxn modelId="{14B368E7-7F26-45B7-B603-7BAF6E7D1FEE}" type="presOf" srcId="{CD7ECC0C-3926-4CC3-9CF4-9E86CA6A5CBD}" destId="{834C9142-5D46-4DED-BF34-544B9D720567}" srcOrd="0" destOrd="0" presId="urn:microsoft.com/office/officeart/2005/8/layout/cycle2"/>
    <dgm:cxn modelId="{683C30F7-4FEC-470A-9A86-F39B996F0325}" type="presOf" srcId="{02CF93A9-1D26-4958-83EE-7BDD3E6B403A}" destId="{A5C29F13-B3C7-4335-9247-4668E654D36C}" srcOrd="0" destOrd="0" presId="urn:microsoft.com/office/officeart/2005/8/layout/cycle2"/>
    <dgm:cxn modelId="{7925E9F9-09BF-4608-B3D6-A95D139DCB77}" srcId="{52B3FB91-DCAD-4C42-98E0-E212D1FC9DFE}" destId="{C3F1F4CE-235A-40DF-BA0D-1D19B14D5AFF}" srcOrd="0" destOrd="0" parTransId="{DFA09D85-3324-486F-A88C-165C20947F9F}" sibTransId="{80BDD8DD-28E6-4FB0-8EBD-15109C251924}"/>
    <dgm:cxn modelId="{85346BB0-536E-40FE-B4C9-A934FD696ADE}" type="presParOf" srcId="{9C5F5701-589F-4809-866B-722523675820}" destId="{512D7C21-1FA2-4613-A889-618EB5882E8C}" srcOrd="0" destOrd="0" presId="urn:microsoft.com/office/officeart/2005/8/layout/cycle2"/>
    <dgm:cxn modelId="{C1AB5BB1-6410-4179-8138-E74D9C96BBB9}" type="presParOf" srcId="{9C5F5701-589F-4809-866B-722523675820}" destId="{A99559C8-083C-43B5-BB4F-247D5AF6AC1B}" srcOrd="1" destOrd="0" presId="urn:microsoft.com/office/officeart/2005/8/layout/cycle2"/>
    <dgm:cxn modelId="{EC519B71-3F95-48E3-B8E6-B1C66803515A}" type="presParOf" srcId="{A99559C8-083C-43B5-BB4F-247D5AF6AC1B}" destId="{CEFBD57E-99AA-4099-AD05-927A778F7BDB}" srcOrd="0" destOrd="0" presId="urn:microsoft.com/office/officeart/2005/8/layout/cycle2"/>
    <dgm:cxn modelId="{EF44C9E5-CC98-4625-A0D2-AD76A277658A}" type="presParOf" srcId="{9C5F5701-589F-4809-866B-722523675820}" destId="{A5C29F13-B3C7-4335-9247-4668E654D36C}" srcOrd="2" destOrd="0" presId="urn:microsoft.com/office/officeart/2005/8/layout/cycle2"/>
    <dgm:cxn modelId="{55E2CB45-FBF4-49A1-A6B6-4D11DD4EA7E2}" type="presParOf" srcId="{9C5F5701-589F-4809-866B-722523675820}" destId="{DF4ACD6F-A774-431E-BF38-76F9526FF582}" srcOrd="3" destOrd="0" presId="urn:microsoft.com/office/officeart/2005/8/layout/cycle2"/>
    <dgm:cxn modelId="{CE7FCCCA-989B-4142-AB7E-EA2E0B5E41E6}" type="presParOf" srcId="{DF4ACD6F-A774-431E-BF38-76F9526FF582}" destId="{16ED003F-6DAA-4372-BF9E-B070B64D2CF5}" srcOrd="0" destOrd="0" presId="urn:microsoft.com/office/officeart/2005/8/layout/cycle2"/>
    <dgm:cxn modelId="{B89C7B33-B401-4B52-9FA6-15D193557D30}" type="presParOf" srcId="{9C5F5701-589F-4809-866B-722523675820}" destId="{0F8A6D53-3685-4C52-91E7-054EDEC52A72}" srcOrd="4" destOrd="0" presId="urn:microsoft.com/office/officeart/2005/8/layout/cycle2"/>
    <dgm:cxn modelId="{5A0573AC-66BF-43C7-8695-99FA825E193F}" type="presParOf" srcId="{9C5F5701-589F-4809-866B-722523675820}" destId="{834C9142-5D46-4DED-BF34-544B9D720567}" srcOrd="5" destOrd="0" presId="urn:microsoft.com/office/officeart/2005/8/layout/cycle2"/>
    <dgm:cxn modelId="{FBC48719-10F0-42C1-B2BF-4C42A80E081B}" type="presParOf" srcId="{834C9142-5D46-4DED-BF34-544B9D720567}" destId="{004138D9-CBA4-467A-BC32-3B6CE4DE3013}" srcOrd="0" destOrd="0" presId="urn:microsoft.com/office/officeart/2005/8/layout/cycle2"/>
    <dgm:cxn modelId="{3FE398A6-77F6-40B1-A2E8-F26D303D9D71}" type="presParOf" srcId="{9C5F5701-589F-4809-866B-722523675820}" destId="{CEE44849-3E2D-41F2-BF54-B6045AD83D50}" srcOrd="6" destOrd="0" presId="urn:microsoft.com/office/officeart/2005/8/layout/cycle2"/>
    <dgm:cxn modelId="{10986708-BB2B-427C-8229-71193D7B2A88}" type="presParOf" srcId="{9C5F5701-589F-4809-866B-722523675820}" destId="{43C618FE-7B68-4BAE-8892-DFE892B54890}" srcOrd="7" destOrd="0" presId="urn:microsoft.com/office/officeart/2005/8/layout/cycle2"/>
    <dgm:cxn modelId="{94240249-7BCE-4DBD-9F10-821FB63CE46A}" type="presParOf" srcId="{43C618FE-7B68-4BAE-8892-DFE892B54890}" destId="{6C267B1C-07A7-4801-A800-E2CA950D9FC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D7C21-1FA2-4613-A889-618EB5882E8C}">
      <dsp:nvSpPr>
        <dsp:cNvPr id="0" name=""/>
        <dsp:cNvSpPr/>
      </dsp:nvSpPr>
      <dsp:spPr>
        <a:xfrm>
          <a:off x="4585343" y="60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Excel</a:t>
          </a:r>
        </a:p>
      </dsp:txBody>
      <dsp:txXfrm>
        <a:off x="4758588" y="173305"/>
        <a:ext cx="836498" cy="836498"/>
      </dsp:txXfrm>
    </dsp:sp>
    <dsp:sp modelId="{A99559C8-083C-43B5-BB4F-247D5AF6AC1B}">
      <dsp:nvSpPr>
        <dsp:cNvPr id="0" name=""/>
        <dsp:cNvSpPr/>
      </dsp:nvSpPr>
      <dsp:spPr>
        <a:xfrm rot="2700000">
          <a:off x="5641362" y="1013775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655186" y="1060253"/>
        <a:ext cx="220256" cy="239554"/>
      </dsp:txXfrm>
    </dsp:sp>
    <dsp:sp modelId="{A5C29F13-B3C7-4335-9247-4668E654D36C}">
      <dsp:nvSpPr>
        <dsp:cNvPr id="0" name=""/>
        <dsp:cNvSpPr/>
      </dsp:nvSpPr>
      <dsp:spPr>
        <a:xfrm>
          <a:off x="5841638" y="1256355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Tableau</a:t>
          </a:r>
          <a:endParaRPr lang="en-IN" sz="1700" kern="1200" dirty="0"/>
        </a:p>
      </dsp:txBody>
      <dsp:txXfrm>
        <a:off x="6014883" y="1429600"/>
        <a:ext cx="836498" cy="836498"/>
      </dsp:txXfrm>
    </dsp:sp>
    <dsp:sp modelId="{DF4ACD6F-A774-431E-BF38-76F9526FF582}">
      <dsp:nvSpPr>
        <dsp:cNvPr id="0" name=""/>
        <dsp:cNvSpPr/>
      </dsp:nvSpPr>
      <dsp:spPr>
        <a:xfrm rot="8100000">
          <a:off x="5653956" y="2270071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10800000">
        <a:off x="5734527" y="2316549"/>
        <a:ext cx="220256" cy="239554"/>
      </dsp:txXfrm>
    </dsp:sp>
    <dsp:sp modelId="{0F8A6D53-3685-4C52-91E7-054EDEC52A72}">
      <dsp:nvSpPr>
        <dsp:cNvPr id="0" name=""/>
        <dsp:cNvSpPr/>
      </dsp:nvSpPr>
      <dsp:spPr>
        <a:xfrm>
          <a:off x="4585343" y="2512651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Power Bi</a:t>
          </a:r>
        </a:p>
      </dsp:txBody>
      <dsp:txXfrm>
        <a:off x="4758588" y="2685896"/>
        <a:ext cx="836498" cy="836498"/>
      </dsp:txXfrm>
    </dsp:sp>
    <dsp:sp modelId="{834C9142-5D46-4DED-BF34-544B9D720567}">
      <dsp:nvSpPr>
        <dsp:cNvPr id="0" name=""/>
        <dsp:cNvSpPr/>
      </dsp:nvSpPr>
      <dsp:spPr>
        <a:xfrm rot="13500000">
          <a:off x="4397660" y="2282665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10800000">
        <a:off x="4478231" y="2395891"/>
        <a:ext cx="220256" cy="239554"/>
      </dsp:txXfrm>
    </dsp:sp>
    <dsp:sp modelId="{CEE44849-3E2D-41F2-BF54-B6045AD83D50}">
      <dsp:nvSpPr>
        <dsp:cNvPr id="0" name=""/>
        <dsp:cNvSpPr/>
      </dsp:nvSpPr>
      <dsp:spPr>
        <a:xfrm>
          <a:off x="3329047" y="1256355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SQL</a:t>
          </a:r>
        </a:p>
      </dsp:txBody>
      <dsp:txXfrm>
        <a:off x="3502292" y="1429600"/>
        <a:ext cx="836498" cy="836498"/>
      </dsp:txXfrm>
    </dsp:sp>
    <dsp:sp modelId="{43C618FE-7B68-4BAE-8892-DFE892B54890}">
      <dsp:nvSpPr>
        <dsp:cNvPr id="0" name=""/>
        <dsp:cNvSpPr/>
      </dsp:nvSpPr>
      <dsp:spPr>
        <a:xfrm rot="18900000">
          <a:off x="4385067" y="1026369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4398891" y="1139595"/>
        <a:ext cx="220256" cy="239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0E48B4-FA61-6E28-D851-68FEE10B07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ED627-51B6-E7C3-CD6B-C86825A1ED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B15D9-2F88-46A4-A318-BBB4648DA347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129BF-D9A4-1BE5-79AC-55F72DDD19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301AD-284F-FB8C-6ED7-33B965E5F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0544F-0BDB-4FF8-B127-DBB21905B66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624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19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35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18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36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38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11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69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21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31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99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00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10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023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223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393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5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64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E0D28-DB26-4C79-BCBB-EFC2EACDAE7E}" type="datetimeFigureOut">
              <a:rPr lang="en-IN" smtClean="0"/>
              <a:t>27-12-2025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759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75627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EC79-02F7-8C79-E7BA-6A2C00222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143" y="481779"/>
            <a:ext cx="10240427" cy="623393"/>
          </a:xfrm>
        </p:spPr>
        <p:txBody>
          <a:bodyPr>
            <a:normAutofit/>
          </a:bodyPr>
          <a:lstStyle/>
          <a:p>
            <a:r>
              <a:rPr lang="en-IN" sz="3400" dirty="0"/>
              <a:t>STOCK MARKET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036B9-2978-FD75-8DAA-B1DD63235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313536" y="1735943"/>
            <a:ext cx="3393223" cy="372527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Ipsita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Puhan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Shraddha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Chandole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Pyarla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Vinod Kumar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Saurabh Mandlekar</a:t>
            </a:r>
          </a:p>
          <a:p>
            <a:pPr algn="l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A92DF-D728-B091-DF49-36B73D63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44413" y="1735943"/>
            <a:ext cx="7787148" cy="3725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006EB3-8D1F-5752-3643-333F06AD3872}"/>
              </a:ext>
            </a:extLst>
          </p:cNvPr>
          <p:cNvSpPr txBox="1"/>
          <p:nvPr/>
        </p:nvSpPr>
        <p:spPr>
          <a:xfrm>
            <a:off x="313539" y="5934670"/>
            <a:ext cx="11318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fontAlgn="b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Team Would Like to Thank</a:t>
            </a:r>
          </a:p>
          <a:p>
            <a:pPr marL="0" indent="0" algn="ctr" fontAlgn="b">
              <a:buNone/>
            </a:pPr>
            <a:r>
              <a:rPr lang="en-IN" sz="2000" b="1" dirty="0">
                <a:latin typeface="Calibri" panose="020F0502020204030204" pitchFamily="34" charset="0"/>
              </a:rPr>
              <a:t>B Harish for Guidance throughout Project building process</a:t>
            </a:r>
          </a:p>
        </p:txBody>
      </p:sp>
    </p:spTree>
    <p:extLst>
      <p:ext uri="{BB962C8B-B14F-4D97-AF65-F5344CB8AC3E}">
        <p14:creationId xmlns:p14="http://schemas.microsoft.com/office/powerpoint/2010/main" val="35553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ECC-5E08-E05B-879F-EA0380C4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967"/>
            <a:ext cx="10353761" cy="132632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EBC61-BF50-952A-9DEE-1E09CA937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72" y="1817933"/>
            <a:ext cx="10353762" cy="3695136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stock market plays a crucial role in the economy by enabling companies to raise capital and providing investors opportunities to generate returns.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market analysis involves examining price movements, trading trends, sector performance, and portfolio behavior to understand market dynamics and trading efficiency.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project, historical trading data is analyzed to evaluate profitability, risk, win–loss performance, and portfolio outcomes.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such as Excel, SQL, Power BI, and Tableau are used to clean, analyze, and visualize stock market data, converting raw data into actionable business insights.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7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7FA4-18D7-1D9E-343C-674576E9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86813"/>
            <a:ext cx="11670890" cy="648929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C052AB-E3B1-49FF-1F09-6574B75F5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916193"/>
            <a:ext cx="11562734" cy="567633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raw stock market trading data and performed data cleaning and validation.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initial analysis using Pivot Tables and charts to understand trends, volumes, and profitability.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created database tables for trades, companies, portfolios, and traders.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queries to perform joins, aggregations, KPI calculations, and profit &amp; win–loss analysis.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data model and developed an interactive dashboard with key KPIs such as total trades, profit, investment, and win rate.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slicers and filters for dynamic analysis by company, month, portfolio, and trade result.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interactive visualizations to analyze portfolio value, sector-wise market capitalization, dividend yield, and geographic trading activity.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user-driven insights through filters and drill-down capabilities.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0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FE80-0FFB-85F8-8DF9-378C91279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6" y="207963"/>
            <a:ext cx="11550718" cy="470463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Kpi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6E6B0-B1E9-4C65-ACDB-11B6BABF2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36" y="766916"/>
            <a:ext cx="11550718" cy="5683046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Total Trades: Total number of executed trades across all portfolios.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Total Investment: Total buy value invested in stocks.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(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Quantity × Buy Price)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3️⃣ Total Sell Value: Total value realized from selling stocks.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(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 Quantity × Sell Price)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Realized Profit / Loss: Profit earned from completed trades.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Total Sell Value − Total Investment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5️⃣ Net Profit After Fees: Profit after deducting brokerage and transaction charges.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6️⃣ Win Rate (%): Percentage of profitable trades.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(Winning Trades ÷ Total Trades) × 100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7️⃣ Portfolio Return (%): Overall return generated on invested capital.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(Net Profit ÷ Total Investment) × 100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8️⃣ Average Daily Trading Volume: Average number of shares traded per day.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9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0517-68F5-C6A3-A906-C5282E9E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Journey of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31649-77AD-A59A-1520-FBE02EB49A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867575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71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A5CC-AD71-E7A5-823E-DB4BA6C2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04" y="144380"/>
            <a:ext cx="10353761" cy="750356"/>
          </a:xfrm>
        </p:spPr>
        <p:txBody>
          <a:bodyPr>
            <a:normAutofit/>
          </a:bodyPr>
          <a:lstStyle/>
          <a:p>
            <a:r>
              <a:rPr lang="en-IN" sz="2800" dirty="0"/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0357D2-96FE-1BFA-C05B-87CB37815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71" y="894736"/>
            <a:ext cx="11661058" cy="56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6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8D92-6F3A-3513-E656-EB30602E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89659"/>
            <a:ext cx="11867536" cy="665748"/>
          </a:xfrm>
        </p:spPr>
        <p:txBody>
          <a:bodyPr>
            <a:normAutofit/>
          </a:bodyPr>
          <a:lstStyle/>
          <a:p>
            <a:r>
              <a:rPr lang="en-IN" sz="2800" dirty="0"/>
              <a:t>TABLEAU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8E7B17-AA00-426C-CCEF-3C9FD6496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77" y="953729"/>
            <a:ext cx="11867536" cy="57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0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652" y="117029"/>
            <a:ext cx="118675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ookman Old Style" panose="02050604050505020204" pitchFamily="18" charset="0"/>
              </a:rPr>
              <a:t>POWER BI DASHBOARD</a:t>
            </a:r>
            <a:endParaRPr lang="en-IN" sz="3200" b="1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A0B0F-AACE-13D6-A619-CEFC6A67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835742"/>
            <a:ext cx="11818374" cy="57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7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BCDD-FC0A-F1B3-96DE-27973D21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7972"/>
            <a:ext cx="10353761" cy="639447"/>
          </a:xfrm>
        </p:spPr>
        <p:txBody>
          <a:bodyPr/>
          <a:lstStyle/>
          <a:p>
            <a:r>
              <a:rPr lang="en-IN" dirty="0"/>
              <a:t>MySQL Queries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C3B171-DA4F-C03C-05DB-0702C247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91984"/>
            <a:ext cx="9144000" cy="28344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BD6F92-0F7E-9316-D8F2-D2D288F5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804723"/>
            <a:ext cx="9144000" cy="28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9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6529-B6A6-DA40-0011-53E6C5D4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6980"/>
            <a:ext cx="10353761" cy="101272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E0D1-32E7-D0F8-F9D7-E1E2C600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553498"/>
            <a:ext cx="11444748" cy="374609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stock market analysis provides a clear view of trading performance, profitability trends, and portfolio behavior using data-driven insights.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integrating Excel, SQL, Power BI, and Tableau, raw trading data was successfully transformed into interactive dashboards and meaningful visual insights.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helped identify top-performing stocks, profitable traders, high-return portfolios, and overall market trends, supporting informed investment decisions.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this project demonstrates strong analytical thinking, effective use of BI tools, and the value of combining multiple technologies for accurate financial analysis.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4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A655-B41E-92A6-4DF2-0A1496FDE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2812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900</TotalTime>
  <Words>550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Damask</vt:lpstr>
      <vt:lpstr>STOCK MARKET analysis dashboard</vt:lpstr>
      <vt:lpstr>Introduction</vt:lpstr>
      <vt:lpstr>Project Overview</vt:lpstr>
      <vt:lpstr>Kpi list</vt:lpstr>
      <vt:lpstr>Journey of project</vt:lpstr>
      <vt:lpstr>Excel Dashboard</vt:lpstr>
      <vt:lpstr>TABLEAU Dashboard</vt:lpstr>
      <vt:lpstr>PowerPoint Presentation</vt:lpstr>
      <vt:lpstr>MySQL Queries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Project -P967</dc:title>
  <dc:creator>jakkin jose v</dc:creator>
  <cp:lastModifiedBy>omkolekar1998@gmail.com</cp:lastModifiedBy>
  <cp:revision>42</cp:revision>
  <dcterms:created xsi:type="dcterms:W3CDTF">2025-08-20T08:34:21Z</dcterms:created>
  <dcterms:modified xsi:type="dcterms:W3CDTF">2025-12-27T12:47:54Z</dcterms:modified>
</cp:coreProperties>
</file>